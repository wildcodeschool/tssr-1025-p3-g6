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48840"/>
            <a:ext cx="12191695" cy="47091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situation &amp; feuille de route 2026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" y="2788920"/>
            <a:ext cx="10835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cette présentation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10241280" cy="116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l’état actuel et les facteurs de croissance.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les nouvelles exigences (sécurité, confidentialité, continuité).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la transformation SI : Active Directory, réseau sécurisé, VPN.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 les évolutions RH (50% télétravail) et RSE (covoiturage, recyclage).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Bordeaux — Janvier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actuel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actuel (2020–2026)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83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positionnement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241280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en 2020 à Bordeaux par les frères Corré (EPFL / HEC Bordeaux).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 IoT pour la gestion intelligente de l’énergie et des ressources.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Co-développement et déploiement de systèmes de surveillance avancés avec acteurs publics/privés.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 optimisation de consommation, réduction des émissions carbone, accélération de la transition écologique.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 : 251 collaborateurs, structurés en 7 départements (avec renforts externes).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références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(faits marquants)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4864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484632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« fulgurant » sur 5 ans.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annoncée : +250%/an en volume d’activité.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enchaîner des projets multi-sites.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166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691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057400"/>
            <a:ext cx="4526280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 domotique des nouveaux bâtiments universitaires de Pessac.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orientés efficacité énergétique et supervision avancée.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« vitrine » sur des sites à fortes exigences.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6355080"/>
            <a:ext cx="1083564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641908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vigilance : croissance rapide ⇒ besoin de sécuriser l’outillage SI et la gouvernance des données.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 commerciale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contrat : caves « Rothschild » (Médoc)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10241280" cy="116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du réchauffement climatique sur le contrôle de température des installations.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initial demandé sur l’infrastructure du domaine et des caves.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attendue : optimisation de la gestion d’énergie (contexte hausse des prix).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: vitrine technologique pour la solution du service Développement.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5166360"/>
            <a:ext cx="10241280" cy="105156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53492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directe : exigences contractuelles renforcées sur la sécurité et la confidentialité des données.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SI en « workgroups » non adapté aux exigences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3492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4754880" cy="1104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données reportée chaque année : dette de sécurité.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comptes / postes non centralisée.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d’appliquer des politiques (MFA, mots de passe, chiffrement, etc.).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limitée (audit, journalisation).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métiers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4663440" cy="1104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Non-conformité vis-à-vis des clauses de confidentialité.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 la surface d’attaque (ransomware, fuites).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d’activité sur des sites critiques (clients « vitrine »).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 au télétravail sécurisé et à la scalabilité.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SI (interne)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1 : cœur SI avec Active Directory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clés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5029200" cy="1104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identité &amp; postes (utilisateurs, groupes, GPO).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des ressources (partages, applications, imprimantes).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de sécurité homogènes (mots de passe, durcissement, patching).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et audit améliorés.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4846320" cy="8858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: FirstInfo (pilotage de la conversion).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d’un réseau interne sécurisé dans le nouveau bâtiment.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d’exploitation : infogérance du parc confiée à FirstInfo.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89320" y="1783080"/>
            <a:ext cx="0" cy="4572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SI (accès distant)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2 : télétravail à 50% avec accès sécurisé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 techniques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10241280" cy="116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(chiffrement) pour communications sécurisées avec l’extérieur.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centralisée des terminaux (postes, correctifs, antivirus/EDR).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forte (MFA) et segmentation des accès.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de continuité (sauvegardes, PRA/PCA selon criticité).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5440680"/>
            <a:ext cx="10241280" cy="9601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565099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: attractivité RH, réduction des trajets, continuité d’activité et conformité client.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&amp; mobilité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RSE : mobilité &amp; qualité de l’air (Bordeaux)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local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5029200" cy="8858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Bouchons récurrents sur la rocade aux heures de pointe.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Topographie en « cuvette » : accumulation possible de pollution.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attendue entre mission climat et pratiques internes.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proposées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4846320" cy="8858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Télétravail jusqu’à 50% (avec SI sécurisé).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d’un système de covoiturage interne.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simples : taux d’adoption, km évités, CO₂ estimé.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89320" y="1783080"/>
            <a:ext cx="0" cy="4572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&amp; cycle de vie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informatique : externalisation &amp; recyclage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10241280" cy="116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Infogérance du parc confiée à FirstInfo : standardisation, support, suivi des incidents.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maîtrisé : homogénéité matériel/logiciel, réduction des risques.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actifs : inventaire, cycle de vie, effacement sécurisé avant sortie.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du parc actuel à une structure de recyclage (EMMAÜS).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5486400"/>
            <a:ext cx="10241280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568756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contrôle : procédure d’effacement (wipe) + attestation avant don/recyclage.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Déménagement juillet 2026 : séquencer la mise en conformité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899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303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Cœur interne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303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T1–T2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03276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réseau sécurisé (LAN/Wi‑Fi, segmentation).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AD / comptes / GPO.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progressive des postes.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8640" y="1600200"/>
            <a:ext cx="34899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7240" y="1828800"/>
            <a:ext cx="303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Déménagement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7240" y="2258568"/>
            <a:ext cx="303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7240" y="2651760"/>
            <a:ext cx="303276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site + services critiques.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continuité &amp; sauvegardes.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(support renforcé).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31480" y="1600200"/>
            <a:ext cx="34899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60080" y="1828800"/>
            <a:ext cx="303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Accès distant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0080" y="2258568"/>
            <a:ext cx="303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0080" y="2651760"/>
            <a:ext cx="303276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VPN + MFA.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terminaux télétravail.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du 50% télétravail.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6446520"/>
            <a:ext cx="10835640" cy="32004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6501384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 : conformité renforcée, SI scalable, télétravail sécurisé, image « vitrine » consolidée.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Lab : « Hi‑tech » &amp; simulation avancée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(demandées par les ingénieurs depuis 2 ans)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10241280" cy="116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de prototypage et tests IoT / énergie.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« ultra high tech » pour validation avant déploiement.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du cycle R&amp;D → industrialisation.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recrutement &amp; fidélisation.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5394960"/>
            <a:ext cx="10241280" cy="100584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559612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recommandé : Lab + gouvernance data ⇒ environnement de test isolé, maîtrisé et traçable.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62940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priorités 2026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à cadrer rapidement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10241280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la migration (postes, serveurs, fichiers, applications).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sécurité minimales (MFA, durcissement, sauvegardes, droits).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 réseau (segmentation, Wi‑Fi invité, accès lab).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bascule déménagement (fenêtres, tests, retour arrière).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télétravail (VPN, terminaux, conformité, support).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6355080"/>
            <a:ext cx="10835640" cy="36576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641908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visé : une croissance sécurisée et conforme, au service de l’innovation et des contrats « vitrine ».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EcoTech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Synthèse &amp; feuille de route</dc:subject>
  <dc:creator>EcoTech</dc:creator>
  <cp:lastModifiedBy>EcoTech</cp:lastModifiedBy>
  <cp:revision>1</cp:revision>
  <dcterms:created xsi:type="dcterms:W3CDTF">2026-01-19T17:33:54Z</dcterms:created>
  <dcterms:modified xsi:type="dcterms:W3CDTF">2026-01-19T17:33:54Z</dcterms:modified>
</cp:coreProperties>
</file>